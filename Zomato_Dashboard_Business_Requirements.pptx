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749" autoAdjust="0"/>
  </p:normalViewPr>
  <p:slideViewPr>
    <p:cSldViewPr snapToGrid="0" snapToObjects="1">
      <p:cViewPr varScale="1">
        <p:scale>
          <a:sx n="55" d="100"/>
          <a:sy n="55" d="100"/>
        </p:scale>
        <p:origin x="10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s.runnr.in/admin/log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s.runnr.in/admin/logi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2826" y="0"/>
            <a:ext cx="43231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Zomato Dashboard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09232-E9E5-4228-147E-21B9E028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12188825" cy="63347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7315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Zomato Analysis</a:t>
            </a:r>
            <a:endParaRPr sz="2800" i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28475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lang="en-US" dirty="0"/>
              <a:t>STEPS IN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2FB53-F98E-62AC-88C8-B17ECA519FEB}"/>
              </a:ext>
            </a:extLst>
          </p:cNvPr>
          <p:cNvSpPr txBox="1"/>
          <p:nvPr/>
        </p:nvSpPr>
        <p:spPr>
          <a:xfrm>
            <a:off x="381000" y="1254740"/>
            <a:ext cx="73392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Segoe UI "/>
                <a:ea typeface="Segoe UI Black" panose="020B0A02040204020203" pitchFamily="34" charset="0"/>
              </a:rPr>
              <a:t>Requirement Gathering / Business Requirements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Data Walkthrough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Data Connection (Excel to Power BI)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Data Cleaning &amp; Quality Check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Data Modeling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DAX Calculations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Dashboard Layout Designing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Charts Development &amp; Formatting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Dashboard Development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Insights Generation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600" dirty="0"/>
              <a:t>Business Recommendations</a:t>
            </a:r>
          </a:p>
          <a:p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7EDFF1-3A43-DE8F-ED0D-F29E0A722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2750">
                        <a14:foregroundMark x1="90250" y1="66250" x2="92250" y2="68000"/>
                        <a14:foregroundMark x1="91500" y1="71750" x2="92750" y2="76000"/>
                        <a14:foregroundMark x1="82000" y1="72500" x2="86750" y2="79500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40668" y="-276935"/>
            <a:ext cx="1841834" cy="18418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1" y="731520"/>
            <a:ext cx="4390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dirty="0">
                <a:latin typeface="Arial Rounded MT Bold" panose="020F0704030504030204" pitchFamily="34" charset="0"/>
              </a:rPr>
              <a:t>Business Requirements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57EAB-0CF4-9BDD-62B2-0149C0F880CE}"/>
              </a:ext>
            </a:extLst>
          </p:cNvPr>
          <p:cNvSpPr txBox="1"/>
          <p:nvPr/>
        </p:nvSpPr>
        <p:spPr>
          <a:xfrm>
            <a:off x="457201" y="1371600"/>
            <a:ext cx="11310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dashboard helps restaurant owners and business managers understand sales trends, identify top-performing restaurants and outlets, evaluate customer preferences, and make data-driven decisions to improve profitability.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76A9A-1C3F-50D8-FE95-A9588AB35375}"/>
              </a:ext>
            </a:extLst>
          </p:cNvPr>
          <p:cNvSpPr txBox="1"/>
          <p:nvPr/>
        </p:nvSpPr>
        <p:spPr>
          <a:xfrm>
            <a:off x="457201" y="2829029"/>
            <a:ext cx="1148442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C0C0C0"/>
                </a:highlight>
                <a:latin typeface="Arial Rounded MT Bold" panose="020F0704030504030204" pitchFamily="34" charset="0"/>
              </a:rPr>
              <a:t>KPI REQUIREMENTS</a:t>
            </a:r>
          </a:p>
          <a:p>
            <a:endParaRPr lang="en-US" sz="2400" b="1" dirty="0"/>
          </a:p>
          <a:p>
            <a:r>
              <a:rPr lang="en-US" sz="2400" b="1" dirty="0"/>
              <a:t>1. Total Quantity: </a:t>
            </a:r>
            <a:r>
              <a:rPr lang="en-US" sz="2400" dirty="0"/>
              <a:t>Sum of all item quantities ordered.</a:t>
            </a:r>
          </a:p>
          <a:p>
            <a:r>
              <a:rPr lang="en-US" sz="2400" b="1" dirty="0"/>
              <a:t>2. Average Quantity: </a:t>
            </a:r>
            <a:r>
              <a:rPr lang="en-US" sz="2400" dirty="0"/>
              <a:t>Average quantity per transaction.</a:t>
            </a:r>
          </a:p>
          <a:p>
            <a:r>
              <a:rPr lang="en-US" sz="2400" b="1" dirty="0"/>
              <a:t>3.Total Transactions: </a:t>
            </a:r>
            <a:r>
              <a:rPr lang="en-US" sz="2400" dirty="0"/>
              <a:t>Count of distinct customer orders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63CFE-1E77-0CBF-F062-1049F46CDD0F}"/>
              </a:ext>
            </a:extLst>
          </p:cNvPr>
          <p:cNvSpPr txBox="1"/>
          <p:nvPr/>
        </p:nvSpPr>
        <p:spPr>
          <a:xfrm>
            <a:off x="4474029" y="-23669"/>
            <a:ext cx="33745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lt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Zomato Analysis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850D38-9728-2AD3-6C57-5474A26FB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2750">
                        <a14:foregroundMark x1="90250" y1="66250" x2="92250" y2="68000"/>
                        <a14:foregroundMark x1="91500" y1="71750" x2="92750" y2="76000"/>
                        <a14:foregroundMark x1="82000" y1="72500" x2="86750" y2="79500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40669" y="-213627"/>
            <a:ext cx="1841834" cy="18418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2945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 dirty="0">
                <a:solidFill>
                  <a:srgbClr val="000000"/>
                </a:solidFill>
                <a:latin typeface="Arial Rounded MT Bold" panose="020F0704030504030204" pitchFamily="34" charset="0"/>
              </a:rPr>
              <a:t>Business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C25DA-749B-48FE-3A7E-C963C8800F25}"/>
              </a:ext>
            </a:extLst>
          </p:cNvPr>
          <p:cNvSpPr txBox="1"/>
          <p:nvPr/>
        </p:nvSpPr>
        <p:spPr>
          <a:xfrm>
            <a:off x="4278312" y="10031"/>
            <a:ext cx="363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lt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Zomato Analysis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F3900-C93E-59E8-A25C-927794673D41}"/>
              </a:ext>
            </a:extLst>
          </p:cNvPr>
          <p:cNvSpPr txBox="1"/>
          <p:nvPr/>
        </p:nvSpPr>
        <p:spPr>
          <a:xfrm>
            <a:off x="457200" y="1270129"/>
            <a:ext cx="111379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0000"/>
                </a:highlight>
              </a:rPr>
              <a:t>Chart’s Requirements</a:t>
            </a:r>
          </a:p>
          <a:p>
            <a:pPr marL="457200" indent="-457200">
              <a:buAutoNum type="arabicPeriod"/>
            </a:pPr>
            <a:r>
              <a:rPr lang="en-US" sz="2400" dirty="0"/>
              <a:t>Total Quantity by Month</a:t>
            </a:r>
          </a:p>
          <a:p>
            <a:r>
              <a:rPr lang="en-US" sz="2400" b="1" dirty="0"/>
              <a:t>              Objective: </a:t>
            </a:r>
            <a:r>
              <a:rPr lang="en-US" sz="2400" dirty="0"/>
              <a:t>Track order volume trend across months.</a:t>
            </a:r>
          </a:p>
          <a:p>
            <a:r>
              <a:rPr lang="en-US" sz="2400" b="1" dirty="0"/>
              <a:t>		Additional Details: </a:t>
            </a:r>
            <a:r>
              <a:rPr lang="en-US" sz="2400" dirty="0"/>
              <a:t>Axis: Month, Value: Quantity.</a:t>
            </a:r>
          </a:p>
          <a:p>
            <a:r>
              <a:rPr lang="en-US" sz="2400" b="1" dirty="0"/>
              <a:t>		Chart Type: </a:t>
            </a:r>
            <a:r>
              <a:rPr lang="en-US" sz="2400" dirty="0"/>
              <a:t>Column Chart</a:t>
            </a:r>
          </a:p>
          <a:p>
            <a:r>
              <a:rPr lang="en-US" sz="2400" b="1" dirty="0"/>
              <a:t>2. </a:t>
            </a:r>
            <a:r>
              <a:rPr lang="en-US" sz="2400" dirty="0"/>
              <a:t>Total Transactions by </a:t>
            </a:r>
            <a:r>
              <a:rPr lang="en-US" sz="2400" dirty="0" err="1"/>
              <a:t>Payment_method</a:t>
            </a:r>
            <a:endParaRPr lang="en-US" sz="2400" dirty="0"/>
          </a:p>
          <a:p>
            <a:r>
              <a:rPr lang="en-US" sz="2400" b="1" dirty="0"/>
              <a:t>		Objective: </a:t>
            </a:r>
            <a:r>
              <a:rPr lang="en-US" sz="2400" dirty="0"/>
              <a:t>Compare transaction volume across UPI, COD, Card.</a:t>
            </a:r>
          </a:p>
          <a:p>
            <a:r>
              <a:rPr lang="en-US" sz="2400" b="1" dirty="0"/>
              <a:t>		Additional Details: </a:t>
            </a:r>
            <a:r>
              <a:rPr lang="en-US" sz="2400" dirty="0"/>
              <a:t>Axis: </a:t>
            </a:r>
            <a:r>
              <a:rPr lang="en-US" sz="2400" dirty="0" err="1"/>
              <a:t>Payment_method</a:t>
            </a:r>
            <a:endParaRPr lang="en-US" sz="2400" dirty="0"/>
          </a:p>
          <a:p>
            <a:r>
              <a:rPr lang="en-US" sz="2400" b="1" dirty="0"/>
              <a:t>		Chart Type:</a:t>
            </a:r>
            <a:r>
              <a:rPr lang="en-US" sz="2400" dirty="0"/>
              <a:t> Bar Chart</a:t>
            </a:r>
          </a:p>
          <a:p>
            <a:r>
              <a:rPr lang="en-US" sz="2400" b="1" dirty="0"/>
              <a:t>3. </a:t>
            </a:r>
            <a:r>
              <a:rPr lang="en-US" sz="2400" dirty="0"/>
              <a:t>Total Quantity by Food Item</a:t>
            </a:r>
          </a:p>
          <a:p>
            <a:r>
              <a:rPr lang="en-US" sz="2400" b="1" dirty="0"/>
              <a:t>		Objective: </a:t>
            </a:r>
            <a:r>
              <a:rPr lang="en-US" sz="2400" dirty="0"/>
              <a:t>Identify top-selling food items.</a:t>
            </a:r>
          </a:p>
          <a:p>
            <a:r>
              <a:rPr lang="en-US" sz="2400" b="1" dirty="0"/>
              <a:t>		Additional Details: </a:t>
            </a:r>
            <a:r>
              <a:rPr lang="en-US" sz="2400" dirty="0"/>
              <a:t>Top 10 filter applied</a:t>
            </a:r>
          </a:p>
          <a:p>
            <a:r>
              <a:rPr lang="en-US" sz="2400" b="1" dirty="0"/>
              <a:t>		Chart Type: </a:t>
            </a:r>
            <a:r>
              <a:rPr lang="en-US" sz="2400" dirty="0"/>
              <a:t>Horizontal Bar Chart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9CF3C-CA74-4003-79F9-D1890E8E9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38470"/>
              </p:ext>
            </p:extLst>
          </p:nvPr>
        </p:nvGraphicFramePr>
        <p:xfrm>
          <a:off x="457200" y="2445861"/>
          <a:ext cx="27432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51385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2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36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43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40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510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6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2207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F75EC1-6190-B69D-7A03-B967698D9A62}"/>
              </a:ext>
            </a:extLst>
          </p:cNvPr>
          <p:cNvSpPr txBox="1"/>
          <p:nvPr/>
        </p:nvSpPr>
        <p:spPr>
          <a:xfrm>
            <a:off x="3021012" y="-129"/>
            <a:ext cx="6146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chemeClr val="lt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Zomato Analysis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C2283-CD49-A543-331A-7EA51F0312C1}"/>
              </a:ext>
            </a:extLst>
          </p:cNvPr>
          <p:cNvSpPr txBox="1"/>
          <p:nvPr/>
        </p:nvSpPr>
        <p:spPr>
          <a:xfrm>
            <a:off x="457199" y="764024"/>
            <a:ext cx="1127442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4. </a:t>
            </a:r>
            <a:r>
              <a:rPr lang="en-US" sz="2400" dirty="0"/>
              <a:t>Total Transactions by </a:t>
            </a:r>
            <a:r>
              <a:rPr lang="en-US" sz="2400" dirty="0" err="1"/>
              <a:t>Deliver_status</a:t>
            </a:r>
            <a:endParaRPr lang="en-US" sz="2400" dirty="0"/>
          </a:p>
          <a:p>
            <a:r>
              <a:rPr lang="en-US" sz="2400" dirty="0"/>
              <a:t>		</a:t>
            </a:r>
            <a:r>
              <a:rPr lang="en-US" sz="2400" b="1" dirty="0"/>
              <a:t>Objective: </a:t>
            </a:r>
            <a:r>
              <a:rPr lang="en-US" sz="2400" dirty="0"/>
              <a:t>Measure delivery success vs. cancellation rate.</a:t>
            </a:r>
          </a:p>
          <a:p>
            <a:r>
              <a:rPr lang="en-US" sz="2400" dirty="0"/>
              <a:t>		</a:t>
            </a:r>
            <a:r>
              <a:rPr lang="en-US" sz="2400" b="1" dirty="0"/>
              <a:t>Additional Details: </a:t>
            </a:r>
            <a:r>
              <a:rPr lang="en-US" sz="2400" dirty="0"/>
              <a:t>Delivered vs. Cancelled</a:t>
            </a:r>
          </a:p>
          <a:p>
            <a:r>
              <a:rPr lang="en-US" sz="2400" dirty="0"/>
              <a:t>		</a:t>
            </a:r>
            <a:r>
              <a:rPr lang="en-US" sz="2400" b="1" dirty="0"/>
              <a:t>Chart Type: </a:t>
            </a:r>
            <a:r>
              <a:rPr lang="en-US" sz="2400" dirty="0"/>
              <a:t>Donut Chart</a:t>
            </a:r>
          </a:p>
          <a:p>
            <a:r>
              <a:rPr lang="en-US" sz="2400" b="1" dirty="0"/>
              <a:t>5. </a:t>
            </a:r>
            <a:r>
              <a:rPr lang="en-US" sz="2400" dirty="0"/>
              <a:t>Total Transactions by Year and Month</a:t>
            </a:r>
          </a:p>
          <a:p>
            <a:r>
              <a:rPr lang="en-US" sz="2400" dirty="0"/>
              <a:t>		</a:t>
            </a:r>
            <a:r>
              <a:rPr lang="en-US" sz="2400" b="1" dirty="0"/>
              <a:t>Objective: </a:t>
            </a:r>
            <a:r>
              <a:rPr lang="en-US" sz="2400" dirty="0"/>
              <a:t>Evaluate transaction trend over time</a:t>
            </a:r>
          </a:p>
          <a:p>
            <a:r>
              <a:rPr lang="en-US" sz="2400" dirty="0"/>
              <a:t>		</a:t>
            </a:r>
            <a:r>
              <a:rPr lang="en-US" sz="2400" b="1" dirty="0"/>
              <a:t>Additional Details: </a:t>
            </a:r>
            <a:r>
              <a:rPr lang="en-US" sz="2400" dirty="0"/>
              <a:t>Axis: Month/Year</a:t>
            </a:r>
          </a:p>
          <a:p>
            <a:r>
              <a:rPr lang="en-US" sz="2400" dirty="0"/>
              <a:t>		</a:t>
            </a:r>
            <a:r>
              <a:rPr lang="en-US" sz="2400" b="1" dirty="0"/>
              <a:t>Chart Type: </a:t>
            </a:r>
            <a:r>
              <a:rPr lang="en-US" sz="2400" dirty="0"/>
              <a:t>Line Chart</a:t>
            </a:r>
          </a:p>
          <a:p>
            <a:r>
              <a:rPr lang="en-US" sz="2400" b="1" dirty="0"/>
              <a:t>6. </a:t>
            </a:r>
            <a:r>
              <a:rPr lang="en-US" sz="2400" dirty="0"/>
              <a:t>Transaction by Food Type &amp; Member Type</a:t>
            </a:r>
          </a:p>
          <a:p>
            <a:r>
              <a:rPr lang="en-US" sz="2400" dirty="0"/>
              <a:t>		</a:t>
            </a:r>
            <a:r>
              <a:rPr lang="en-US" sz="2400" b="1" dirty="0"/>
              <a:t>Objective: </a:t>
            </a:r>
            <a:r>
              <a:rPr lang="en-US" sz="2400" dirty="0"/>
              <a:t>Compare Gold vs. Regular member ordering behavior across food 						      categories.</a:t>
            </a:r>
          </a:p>
          <a:p>
            <a:r>
              <a:rPr lang="en-US" sz="2400" dirty="0"/>
              <a:t>		 </a:t>
            </a:r>
            <a:r>
              <a:rPr lang="en-US" sz="2400" b="1" dirty="0"/>
              <a:t>Additional Details: </a:t>
            </a:r>
            <a:r>
              <a:rPr lang="en-US" sz="2400" dirty="0"/>
              <a:t>member ordering behavior across food </a:t>
            </a:r>
            <a:r>
              <a:rPr lang="en-US" sz="2400" dirty="0" err="1"/>
              <a:t>categoriesRows</a:t>
            </a:r>
            <a:r>
              <a:rPr lang="en-US" sz="2400" dirty="0"/>
              <a:t>: Food 						               Type, Columns: </a:t>
            </a:r>
            <a:r>
              <a:rPr lang="en-US" sz="2400" dirty="0" err="1"/>
              <a:t>MembeR</a:t>
            </a:r>
            <a:r>
              <a:rPr lang="en-US" sz="2400" dirty="0"/>
              <a:t> Type, with subtotals.</a:t>
            </a:r>
          </a:p>
          <a:p>
            <a:r>
              <a:rPr lang="en-US" sz="2400" dirty="0"/>
              <a:t>		</a:t>
            </a:r>
            <a:r>
              <a:rPr lang="en-US" sz="2400" b="1" dirty="0"/>
              <a:t>Chart Type</a:t>
            </a:r>
            <a:r>
              <a:rPr lang="en-US" sz="2400" dirty="0"/>
              <a:t>: Matrix Table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368</Words>
  <Application>Microsoft Office PowerPoint</Application>
  <PresentationFormat>Custom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Rounded MT Bold</vt:lpstr>
      <vt:lpstr>Calibri</vt:lpstr>
      <vt:lpstr>Segoe UI</vt:lpstr>
      <vt:lpstr>Segoe UI 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Shrawani Dhadwad</cp:lastModifiedBy>
  <cp:revision>5</cp:revision>
  <dcterms:created xsi:type="dcterms:W3CDTF">2013-01-27T09:14:16Z</dcterms:created>
  <dcterms:modified xsi:type="dcterms:W3CDTF">2026-08-10T18:00:06Z</dcterms:modified>
  <cp:category/>
</cp:coreProperties>
</file>